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D_D10FA59C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9" r:id="rId3"/>
    <p:sldId id="257" r:id="rId4"/>
    <p:sldId id="258" r:id="rId5"/>
    <p:sldId id="259" r:id="rId6"/>
    <p:sldId id="272" r:id="rId7"/>
    <p:sldId id="261" r:id="rId8"/>
    <p:sldId id="260" r:id="rId9"/>
    <p:sldId id="267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8BB154F-FA91-785E-201F-D6D1356D7D95}" name="MUHAMMAD BILAL MALA" initials="MM" userId="S::mbm474@uowmail.edu.au::e42d2c69-19ed-4544-bae7-2a63d58e963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BC7DDB-D3DC-64B6-39E7-5C26D5565372}" v="2" dt="2026-04-13T19:42:25.300"/>
    <p1510:client id="{4F21DF24-5E0D-4B97-9D9E-15118DA1BE10}" v="2" dt="2026-04-13T19:38:20.078"/>
    <p1510:client id="{5A434D55-74BB-B859-7290-7B7C80399BD5}" v="131" dt="2026-04-13T19:46:39.994"/>
    <p1510:client id="{9D82EBEF-91A5-7C21-C8FA-7A8E654BAF16}" v="12" dt="2026-04-13T19:39:08.081"/>
    <p1510:client id="{BD14C301-5F75-A50F-B790-55AD586AE448}" v="18" dt="2026-04-13T19:30:39.089"/>
    <p1510:client id="{DF1DB178-EE27-D6A1-7190-3CB01EDD97FA}" v="515" dt="2026-04-13T19:06:43.0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modernComment_10D_D10FA59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D379934-E597-42F5-8858-130C48BB4F0A}" authorId="{C8BB154F-FA91-785E-201F-D6D1356D7D95}" created="2026-04-13T19:30:39.089">
    <pc:sldMkLst xmlns:pc="http://schemas.microsoft.com/office/powerpoint/2013/main/command">
      <pc:docMk/>
      <pc:sldMk cId="3507463580" sldId="269"/>
    </pc:sldMkLst>
    <p188:txBody>
      <a:bodyPr/>
      <a:lstStyle/>
      <a:p>
        <a:r>
          <a:rPr lang="en-US"/>
          <a:t>Not sure why the image cannot be shown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077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0D_D10FA59C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223760" y="182880"/>
            <a:ext cx="2743200" cy="27432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AquaNex</a:t>
            </a:r>
            <a:endParaRPr lang="en-US" sz="600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i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AI-Powered Irrigation </a:t>
            </a:r>
            <a:r>
              <a:rPr lang="en-US" i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Risk Management</a:t>
            </a:r>
            <a:r>
              <a:rPr lang="en-US" sz="1800" i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 Platform</a:t>
            </a:r>
            <a:endParaRPr lang="en-US"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</a:rPr>
              <a:t>Team Technium</a:t>
            </a:r>
            <a:r>
              <a:rPr lang="en-US" sz="1400">
                <a:solidFill>
                  <a:srgbClr val="94A3B8"/>
                </a:solidFill>
              </a:rPr>
              <a:t>  ·  CSIT321 Capstone Project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Israr Ahmed   |   Saad Kadli   |   Abrar Syed|   Atsushi Hashimoto   | Muhammad Bilal 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/>
          </a:p>
        </p:txBody>
      </p:sp>
      <p:pic>
        <p:nvPicPr>
          <p:cNvPr id="14" name="Picture 1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A21AB4D8-EC0C-E717-2F75-BDE5F962F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81463"/>
            <a:ext cx="1463040" cy="5423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6EC3E4-2900-7D7D-2CB5-BBAD6F257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71993" cy="51435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8127A4-436A-A27F-6FE8-25ED86CD81D3}"/>
              </a:ext>
            </a:extLst>
          </p:cNvPr>
          <p:cNvSpPr txBox="1"/>
          <p:nvPr/>
        </p:nvSpPr>
        <p:spPr>
          <a:xfrm>
            <a:off x="866667" y="3413277"/>
            <a:ext cx="3213315" cy="126535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Problem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Why irrigation risk management is hard in the UAE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50987" y="3408084"/>
            <a:ext cx="342900" cy="342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D98FDB-A5BA-C778-8036-DCDEADCF31AE}"/>
              </a:ext>
            </a:extLst>
          </p:cNvPr>
          <p:cNvSpPr txBox="1"/>
          <p:nvPr/>
        </p:nvSpPr>
        <p:spPr>
          <a:xfrm>
            <a:off x="4580070" y="3544735"/>
            <a:ext cx="4362288" cy="146363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/>
              <a:t>• High water scarcity (&lt; 100mm rainfall) and extreme temperatures (&gt;50°C)</a:t>
            </a:r>
            <a:endParaRPr lang="en-US" sz="1100">
              <a:ea typeface="Calibri" panose="020F0502020204030204"/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/>
              <a:t>• Saline groundwater + aging infrastructure increases breakage risk</a:t>
            </a:r>
            <a:endParaRPr lang="en-US" sz="110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/>
              <a:t>• Reactive monitoring: manual patrols, SCADA alarms, manual crew scheduling</a:t>
            </a:r>
            <a:endParaRPr lang="en-US" sz="110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/>
              <a:t>• Small leaks can escalate into major failures when response is slow</a:t>
            </a:r>
            <a:endParaRPr lang="en-US" sz="1100">
              <a:ea typeface="Calibri"/>
              <a:cs typeface="Calibri"/>
            </a:endParaRPr>
          </a:p>
        </p:txBody>
      </p:sp>
      <p:pic>
        <p:nvPicPr>
          <p:cNvPr id="6" name="Picture 5" descr="What is an Irrigation System? Types, Design, and Innovations | Rivulis">
            <a:extLst>
              <a:ext uri="{FF2B5EF4-FFF2-40B4-BE49-F238E27FC236}">
                <a16:creationId xmlns:a16="http://schemas.microsoft.com/office/drawing/2014/main" id="{6C67AA90-FB60-145A-02BB-528AC1B55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177" y="227439"/>
            <a:ext cx="6190486" cy="253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46358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40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0604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30–50%</a:t>
            </a:r>
            <a:endParaRPr lang="en-US" sz="300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loss from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leaks &amp; inefficiency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3172968" y="960120"/>
            <a:ext cx="260604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64408" y="10058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50°C+</a:t>
            </a:r>
            <a:endParaRPr lang="en-US" sz="3000"/>
          </a:p>
        </p:txBody>
      </p:sp>
      <p:sp>
        <p:nvSpPr>
          <p:cNvPr id="9" name="Text 7"/>
          <p:cNvSpPr/>
          <p:nvPr/>
        </p:nvSpPr>
        <p:spPr>
          <a:xfrm>
            <a:off x="3264408" y="16916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temps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damaging infrastructure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6025896" y="960120"/>
            <a:ext cx="260604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17336" y="10058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&lt;100mm</a:t>
            </a:r>
            <a:endParaRPr lang="en-US" sz="3000"/>
          </a:p>
        </p:txBody>
      </p:sp>
      <p:sp>
        <p:nvSpPr>
          <p:cNvPr id="12" name="Text 10"/>
          <p:cNvSpPr/>
          <p:nvPr/>
        </p:nvSpPr>
        <p:spPr>
          <a:xfrm>
            <a:off x="6117336" y="16916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rainfall in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UAE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Challenges: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irrigation infrastructure with reactive-only maintenance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Fragmented tools, no unified platform for monitoring, detection &amp; response</a:t>
            </a:r>
            <a:endParaRPr lang="en-US" sz="13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 delay repairs, wasting water and increasing costs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National Food Security Strategy 2051 demands modern, reliable irrigation</a:t>
            </a:r>
            <a:endParaRPr lang="en-US"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340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 err="1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AquaNex</a:t>
            </a:r>
            <a:r>
              <a:rPr lang="en-US" sz="1400" i="1" dirty="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 is a cloud-native, AI-powered platform that transforms irrigation operations from reactive maintenance to predictive, automated, and optimized management.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2423160"/>
            <a:ext cx="2651760" cy="2194560"/>
          </a:xfrm>
          <a:prstGeom prst="rect">
            <a:avLst/>
          </a:prstGeom>
          <a:solidFill>
            <a:srgbClr val="0F2744"/>
          </a:solidFill>
          <a:ln w="12700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2468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000000"/>
                </a:solidFill>
              </a:rPr>
              <a:t>🔗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41148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Unified Platform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411480" y="34747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IoT, AI &amp; decision support in a single operational hub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3172968" y="2423160"/>
            <a:ext cx="2651760" cy="2194560"/>
          </a:xfrm>
          <a:prstGeom prst="rect">
            <a:avLst/>
          </a:prstGeom>
          <a:solidFill>
            <a:srgbClr val="0F2744"/>
          </a:solidFill>
          <a:ln w="12700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72968" y="2468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64408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Intelligence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3264408" y="34747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failures, assesses impact &amp; allocates resources automatically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6025896" y="2423160"/>
            <a:ext cx="2651760" cy="2194560"/>
          </a:xfrm>
          <a:prstGeom prst="rect">
            <a:avLst/>
          </a:prstGeom>
          <a:solidFill>
            <a:srgbClr val="0F2744"/>
          </a:solidFill>
          <a:ln w="12700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25896" y="2468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17336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6117336" y="34747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 with human approval for critical decisions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AI-Driven Modules</a:t>
            </a:r>
            <a:endParaRPr lang="en-US" sz="340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Risk &amp; Breakage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anomaly detection with automated repair planning &amp; crew allocation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315468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54680" y="105156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143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Salinity Intelligence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3291840" y="19659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soil monitoring with predictive mitigation &amp; crop recommendations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598932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89320" y="105156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1143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/>
          </a:p>
        </p:txBody>
      </p:sp>
      <p:sp>
        <p:nvSpPr>
          <p:cNvPr id="17" name="Text 15"/>
          <p:cNvSpPr/>
          <p:nvPr/>
        </p:nvSpPr>
        <p:spPr>
          <a:xfrm>
            <a:off x="6126480" y="15544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Demand Forecasting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6126480" y="19659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dynamic irrigation scheduling using weather &amp; crop data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320040" y="3063240"/>
            <a:ext cx="3931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306324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1546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/>
          </a:p>
        </p:txBody>
      </p:sp>
      <p:sp>
        <p:nvSpPr>
          <p:cNvPr id="22" name="Text 20"/>
          <p:cNvSpPr/>
          <p:nvPr/>
        </p:nvSpPr>
        <p:spPr>
          <a:xfrm>
            <a:off x="457200" y="35661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Monitoring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457200" y="397764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pH, TDS &amp; turbidity analytics with integrated risk mitigation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4709160" y="3063240"/>
            <a:ext cx="3931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306324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/>
          </a:p>
        </p:txBody>
      </p:sp>
      <p:sp>
        <p:nvSpPr>
          <p:cNvPr id="27" name="Text 25"/>
          <p:cNvSpPr/>
          <p:nvPr/>
        </p:nvSpPr>
        <p:spPr>
          <a:xfrm>
            <a:off x="4846320" y="35661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Analysis Engine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4846320" y="397764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Cross-system financial intelligence linking technical issues to business impact</a:t>
            </a:r>
            <a:endParaRPr lang="en-US"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110232-F238-BAEC-BF6F-F90174DCF6D8}"/>
              </a:ext>
            </a:extLst>
          </p:cNvPr>
          <p:cNvSpPr txBox="1"/>
          <p:nvPr/>
        </p:nvSpPr>
        <p:spPr>
          <a:xfrm>
            <a:off x="417399" y="482600"/>
            <a:ext cx="8408193" cy="55862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Context Diagram</a:t>
            </a:r>
          </a:p>
        </p:txBody>
      </p:sp>
      <p:pic>
        <p:nvPicPr>
          <p:cNvPr id="4" name="Picture 3" descr="A diagram of a system&#10;&#10;AI-generated content may be incorrect.">
            <a:extLst>
              <a:ext uri="{FF2B5EF4-FFF2-40B4-BE49-F238E27FC236}">
                <a16:creationId xmlns:a16="http://schemas.microsoft.com/office/drawing/2014/main" id="{425E81A9-1AD2-6A0A-2847-BF388926B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59" y="1256420"/>
            <a:ext cx="8087481" cy="329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184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340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64008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· DRF · Celery · Redis · SimpleJWT · Google OAuth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64008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React · Vite · TypeScript · Tailwind CSS · Leaflet.js 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233172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331720"/>
            <a:ext cx="64008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423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/ AI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scikit-learn · Random Forest · GAN-augmented data · MQTT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4754880" y="233172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2331720"/>
            <a:ext cx="64008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2423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4892040" y="27432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Protocol · Sensor Simulators · ThingsBoard (Oracle Cloud)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320040" y="361188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3611880"/>
            <a:ext cx="64008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703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65A82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Cloud &amp; Infrastructure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457200" y="40233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(Backend) · Vercel (Frontend) · Supabase (PostgreSQL) · Cloudflare R2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4754880" y="361188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3611880"/>
            <a:ext cx="64008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3703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4892040" y="40233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Docker · Environment Variables · WhiteNoise · CORS config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40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828800" cy="2194560"/>
          </a:xfrm>
          <a:prstGeom prst="rect">
            <a:avLst/>
          </a:prstGeom>
          <a:solidFill>
            <a:srgbClr val="0F4C75"/>
          </a:solidFill>
          <a:ln w="12700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Layer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1737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&amp; Gateways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Protocol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2240280" y="2057400"/>
            <a:ext cx="246888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487168" y="1005840"/>
            <a:ext cx="1828800" cy="21945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32888" y="1097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2532888" y="1600200"/>
            <a:ext cx="1737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(DRF)</a:t>
            </a:r>
            <a:endParaRPr lang="en-US" sz="1100"/>
          </a:p>
          <a:p>
            <a:pPr algn="ctr"/>
            <a:r>
              <a:rPr lang="en-US" sz="1100">
                <a:solidFill>
                  <a:srgbClr val="BAE6FD"/>
                </a:solidFill>
                <a:latin typeface="Calibri"/>
                <a:ea typeface="Calibri"/>
                <a:cs typeface="Calibri"/>
              </a:rPr>
              <a:t>Celery and Redis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61688" y="2057400"/>
            <a:ext cx="246888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08576" y="1005840"/>
            <a:ext cx="1828800" cy="2194560"/>
          </a:xfrm>
          <a:prstGeom prst="rect">
            <a:avLst/>
          </a:prstGeom>
          <a:solidFill>
            <a:srgbClr val="0D9488"/>
          </a:solidFill>
          <a:ln w="12700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54296" y="1097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Service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4654296" y="1600200"/>
            <a:ext cx="1737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BAE6FD"/>
                </a:solidFill>
                <a:latin typeface="Calibri"/>
                <a:ea typeface="Calibri"/>
                <a:cs typeface="Calibri"/>
              </a:rPr>
              <a:t>FastAPI</a:t>
            </a:r>
            <a:endParaRPr lang="en-US" sz="1100" dirty="0" err="1">
              <a:latin typeface="Calibri"/>
              <a:ea typeface="Calibri"/>
              <a:cs typeface="Calibri"/>
            </a:endParaRPr>
          </a:p>
          <a:p>
            <a:pPr algn="ctr"/>
            <a:r>
              <a:rPr lang="en-US" sz="1100" dirty="0" err="1">
                <a:solidFill>
                  <a:srgbClr val="BAE6FD"/>
                </a:solidFill>
                <a:latin typeface="Calibri"/>
                <a:ea typeface="Calibri"/>
                <a:cs typeface="Calibri"/>
              </a:rPr>
              <a:t>XGBoost</a:t>
            </a:r>
            <a:r>
              <a:rPr lang="en-US" sz="1100" dirty="0">
                <a:solidFill>
                  <a:srgbClr val="BAE6FD"/>
                </a:solidFill>
                <a:latin typeface="Calibri"/>
                <a:ea typeface="Calibri"/>
                <a:cs typeface="Calibri"/>
              </a:rPr>
              <a:t>, ARIMA Models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83096" y="2057400"/>
            <a:ext cx="246888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729984" y="1005840"/>
            <a:ext cx="1828800" cy="21945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75704" y="1097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6775704" y="1600200"/>
            <a:ext cx="1737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rgbClr val="BAE6FD"/>
                </a:solidFill>
                <a:latin typeface="Calibri"/>
                <a:ea typeface="Calibri"/>
                <a:cs typeface="Calibri"/>
              </a:rPr>
              <a:t>React and Vite</a:t>
            </a:r>
            <a:endParaRPr lang="en-US" sz="11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10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Maps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36576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365760" y="3703320"/>
            <a:ext cx="256032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C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3246120" y="3703320"/>
            <a:ext cx="256032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C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37560" y="3749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R2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6126480" y="3703320"/>
            <a:ext cx="256032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C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0" y="3749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Redis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Broker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065A82">
              <a:alpha val="15000"/>
            </a:srgbClr>
          </a:solidFill>
          <a:ln w="12700">
            <a:solidFill>
              <a:srgbClr val="065A8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AquaNex — Smarter Irrigation. Sustainable Future.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3200400" y="1965960"/>
            <a:ext cx="2743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Technium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Israr Ahmed (Team Leader)   ·   Saad Kadli (Scribe)   ·   Muhammad Bilal Mala   ·   Atsushi Hashimoto   ·   Abrar Syed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CSIT321 · University of Wollongong Dubai · April 2026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2286000" y="3657600"/>
            <a:ext cx="4572000" cy="685800"/>
          </a:xfrm>
          <a:prstGeom prst="rect">
            <a:avLst/>
          </a:prstGeom>
          <a:solidFill>
            <a:srgbClr val="0F2744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86000" y="36576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github.com/CodeChef42/Project-AquaNex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9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AquaNex - Team Technium</dc:title>
  <dc:subject>PptxGenJS Presentation</dc:subject>
  <dc:creator>PptxGenJS</dc:creator>
  <cp:revision>127</cp:revision>
  <dcterms:created xsi:type="dcterms:W3CDTF">2026-04-13T17:45:56Z</dcterms:created>
  <dcterms:modified xsi:type="dcterms:W3CDTF">2026-04-13T19:48:29Z</dcterms:modified>
</cp:coreProperties>
</file>